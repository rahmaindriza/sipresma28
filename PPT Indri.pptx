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8" autoAdjust="0"/>
  </p:normalViewPr>
  <p:slideViewPr>
    <p:cSldViewPr snapToGrid="0" snapToObjects="1">
      <p:cViewPr>
        <p:scale>
          <a:sx n="66" d="100"/>
          <a:sy n="66" d="100"/>
        </p:scale>
        <p:origin x="-644" y="-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02C2E-EFF0-48BD-B35A-B689B612FB0C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174468-0D24-4229-9B42-9CC5F3322D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618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F3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3A2810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77654B">
              <a:alpha val="30000"/>
            </a:srgbClr>
          </a:solidFill>
          <a:ln/>
        </p:spPr>
      </p:sp>
      <p:pic>
        <p:nvPicPr>
          <p:cNvPr id="4" name="Image 0" descr="icon_gradcap_gold.png"/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9646920" y="50292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CDC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TEKNOLOGI INFORMASI • D3 MANAJEMEN INFORMATIKA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1554480"/>
            <a:ext cx="8961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INFORMASI MANAJEMEN NILAI DAN</a:t>
            </a:r>
            <a:endParaRPr lang="en-US" sz="2800" dirty="0"/>
          </a:p>
          <a:p>
            <a:pPr marL="0" indent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PRESTASI SISWA BERBASIS WEB</a:t>
            </a:r>
            <a:endParaRPr lang="en-US" sz="2800" dirty="0"/>
          </a:p>
          <a:p>
            <a:pPr marL="0" indent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 SD NEGERI 28 KINALI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58368" y="4114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CDC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SIPRESMA 28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58368" y="4709160"/>
            <a:ext cx="1280160" cy="45720"/>
          </a:xfrm>
          <a:prstGeom prst="rect">
            <a:avLst/>
          </a:prstGeom>
          <a:solidFill>
            <a:srgbClr val="CDC0AE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493776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Rahma Indriza Syafitri
</a:t>
            </a:r>
            <a:r>
              <a:rPr lang="en-US" dirty="0">
                <a:solidFill>
                  <a:srgbClr val="DCD1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2301091022
Manajemen Informatika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TEKNOLOGI INFORMASI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Latar Belakang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655064"/>
            <a:ext cx="128016" cy="128016"/>
          </a:xfrm>
          <a:prstGeom prst="ellipse">
            <a:avLst/>
          </a:prstGeom>
          <a:solidFill>
            <a:srgbClr val="CDC0A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27048"/>
            <a:ext cx="6172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Pengelolaan data nilai siswa di SD Negeri 28 Kinali masih menggunakan Microsoft Excel yang terpisah pada masing-masing wali kelas.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2825496"/>
            <a:ext cx="128016" cy="128016"/>
          </a:xfrm>
          <a:prstGeom prst="ellipse">
            <a:avLst/>
          </a:prstGeom>
          <a:solidFill>
            <a:srgbClr val="CDC0A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697480"/>
            <a:ext cx="6172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belum terintegrasi, risiko kehilangan data tinggi, dan proses penyusunan rapor berjalan lambat.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7200" y="3995928"/>
            <a:ext cx="128016" cy="128016"/>
          </a:xfrm>
          <a:prstGeom prst="ellipse">
            <a:avLst/>
          </a:prstGeom>
          <a:solidFill>
            <a:srgbClr val="CDC0A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867912"/>
            <a:ext cx="6172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Kepala Sekolah kesulitan memantau prestasi akademik &amp; non-akademik siswa secara cepat dan menyeluruh.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5166360"/>
            <a:ext cx="128016" cy="128016"/>
          </a:xfrm>
          <a:prstGeom prst="ellipse">
            <a:avLst/>
          </a:prstGeom>
          <a:solidFill>
            <a:srgbClr val="CDC0AE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5038344"/>
            <a:ext cx="6172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Solusi: sistem informasi berbasis web dengan basis data terpusat, kalkulasi nilai otomatis, dan dashboard monitoring (SIPRESMA 28).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7269480" y="1691640"/>
            <a:ext cx="4480560" cy="2926080"/>
          </a:xfrm>
          <a:prstGeom prst="rect">
            <a:avLst/>
          </a:prstGeom>
          <a:solidFill>
            <a:srgbClr val="4F3816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543800" y="1965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Pendukung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543800" y="23774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CDC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Kelas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7543800" y="32461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CD1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mengelola nilai secara terpisah menggunakan Excel tanpa basis data terpusat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269480" y="4160520"/>
            <a:ext cx="4480560" cy="457200"/>
          </a:xfrm>
          <a:prstGeom prst="rect">
            <a:avLst/>
          </a:prstGeom>
          <a:solidFill>
            <a:srgbClr val="3A2810"/>
          </a:solidFill>
          <a:ln/>
        </p:spPr>
      </p:sp>
      <p:sp>
        <p:nvSpPr>
          <p:cNvPr id="17" name="Text 15"/>
          <p:cNvSpPr/>
          <p:nvPr/>
        </p:nvSpPr>
        <p:spPr>
          <a:xfrm>
            <a:off x="7452360" y="41605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Analisis sistem berjalan – SD Negeri 28 Kinali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47572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TEKNOLOGI INFORMASI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4937760" cy="594360"/>
          </a:xfrm>
          <a:prstGeom prst="rect">
            <a:avLst/>
          </a:prstGeom>
          <a:solidFill>
            <a:srgbClr val="CDC0A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2179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Rumusan Masalah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457200" cy="457200"/>
          </a:xfrm>
          <a:prstGeom prst="ellipse">
            <a:avLst/>
          </a:prstGeom>
          <a:solidFill>
            <a:srgbClr val="4F381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DC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527048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merancang dan membangun sistem informasi manajemen nilai dan prestasi siswa berbasis web yang mengintegrasikan data dari berbagai kelas ke dalam satu basis data terpusat?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02920" y="2770632"/>
            <a:ext cx="457200" cy="457200"/>
          </a:xfrm>
          <a:prstGeom prst="ellipse">
            <a:avLst/>
          </a:prstGeom>
          <a:solidFill>
            <a:srgbClr val="4F3816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770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DC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6974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mengelola data nilai akademik serta prestasi non-akademik siswa secara terstruktur dan menyajikannya dalam bentuk grafik monitoring?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02920" y="3941064"/>
            <a:ext cx="457200" cy="457200"/>
          </a:xfrm>
          <a:prstGeom prst="ellipse">
            <a:avLst/>
          </a:prstGeom>
          <a:solidFill>
            <a:srgbClr val="4F3816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DC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3867912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merancang sistem yang mampu memberikan notifikasi atau penanda bagi siswa yang berada di bawah Kriteria Ketuntasan Minimal (KKM)?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02920" y="5111496"/>
            <a:ext cx="457200" cy="457200"/>
          </a:xfrm>
          <a:prstGeom prst="ellipse">
            <a:avLst/>
          </a:prstGeom>
          <a:solidFill>
            <a:srgbClr val="4F3816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DC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5038344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menyediakan dashboard informasi terintegrasi guna mendukung pengambilan keputusan oleh Kepala Sekolah?</a:t>
            </a:r>
            <a:endParaRPr lang="en-US" dirty="0"/>
          </a:p>
        </p:txBody>
      </p:sp>
      <p:pic>
        <p:nvPicPr>
          <p:cNvPr id="17" name="Image 0" descr="icon_lightbulb_navy.png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9281160" y="2331720"/>
            <a:ext cx="2286000" cy="22860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47572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TEKNOLOGI INFORMASI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 dan Manfaat</a:t>
            </a:r>
            <a:endParaRPr lang="en-US" sz="3000" dirty="0"/>
          </a:p>
        </p:txBody>
      </p:sp>
      <p:pic>
        <p:nvPicPr>
          <p:cNvPr id="4" name="Image 0" descr="icon_bullseye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502920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89320" y="1508760"/>
            <a:ext cx="27432" cy="4663440"/>
          </a:xfrm>
          <a:prstGeom prst="rect">
            <a:avLst/>
          </a:prstGeom>
          <a:solidFill>
            <a:srgbClr val="CDC0AE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4630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57200" y="192024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Menghasilkan sistem informasi manajemen nilai &amp; monitoring prestasi siswa berbasis web dengan basis data terpusat.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57200" y="297180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Mengembangkan pengelolaan data akademik &amp; non-akademik terstruktur, dilengkapi visualisasi grafik monitoring.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57200" y="402336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Membangun fitur notifikasi/penanda otomatis bagi siswa di bawah KKM untuk tindak lanjut evaluasi cepat.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57200" y="50749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Menyediakan dashboard informasi terintegrasi bagi Kepala Sekolah dalam pengambilan keputusan berbasis data.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309360" y="14630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Manfaat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309360" y="192024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Meningkatkan efisiensi pengelolaan data nilai &amp; prestasi siswa melalui sistem terintegrasi dan terpusat.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309360" y="281635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Meminimalkan human error dalam pengolahan nilai melalui sistem yang </a:t>
            </a:r>
            <a:r>
              <a:rPr lang="en-US" dirty="0" err="1" smtClean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terkomputerisasi</a:t>
            </a:r>
            <a:r>
              <a:rPr lang="en-US" dirty="0" smtClean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 smtClean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</a:t>
            </a:r>
            <a:r>
              <a:rPr lang="en-US" dirty="0" smtClean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otomatis.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309360" y="3712464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Mempermudah monitoring prestasi siswa melalui visualisasi grafik yang informatif.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309360" y="4608576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Mendukung pengambilan keputusan dengan data akurat, cepat, dan terintegrasi.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309360" y="5504688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Meningkatkan transparansi &amp; aksesibilitas pengelolaan nilai kapan saja, di mana saja.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1147572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F3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3A281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CDC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TEKNOLOGI INFORMASI</a:t>
            </a:r>
            <a:endParaRPr lang="en-US" sz="1100" dirty="0"/>
          </a:p>
        </p:txBody>
      </p:sp>
      <p:pic>
        <p:nvPicPr>
          <p:cNvPr id="4" name="Image 0" descr="icon_clipboard_gold.png"/>
          <p:cNvPicPr>
            <a:picLocks noChangeAspect="1"/>
          </p:cNvPicPr>
          <p:nvPr/>
        </p:nvPicPr>
        <p:blipFill>
          <a:blip r:embed="rId3">
            <a:alphaModFix amt="92000"/>
          </a:blip>
          <a:stretch>
            <a:fillRect/>
          </a:stretch>
        </p:blipFill>
        <p:spPr>
          <a:xfrm>
            <a:off x="1005840" y="2377440"/>
            <a:ext cx="182880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60520" y="50292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Batasan</a:t>
            </a:r>
            <a:endParaRPr lang="en-US" sz="3400" dirty="0"/>
          </a:p>
          <a:p>
            <a:pPr marL="0" indent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Masalah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4160520" y="2011680"/>
            <a:ext cx="320040" cy="320040"/>
          </a:xfrm>
          <a:prstGeom prst="rect">
            <a:avLst/>
          </a:prstGeom>
          <a:solidFill>
            <a:srgbClr val="CDC0AE"/>
          </a:solidFill>
          <a:ln/>
        </p:spPr>
      </p:sp>
      <p:sp>
        <p:nvSpPr>
          <p:cNvPr id="7" name="Text 4"/>
          <p:cNvSpPr/>
          <p:nvPr/>
        </p:nvSpPr>
        <p:spPr>
          <a:xfrm>
            <a:off x="4160520" y="2011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2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❯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709160" y="1892808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00"/>
              </a:lnSpc>
            </a:pPr>
            <a:r>
              <a:rPr lang="en-GB" dirty="0" err="1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</a:t>
            </a:r>
            <a:r>
              <a:rPr lang="en-GB" dirty="0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GB" dirty="0" err="1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</a:t>
            </a:r>
            <a:r>
              <a:rPr lang="en-GB" dirty="0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platform Web Browser (</a:t>
            </a:r>
            <a:r>
              <a:rPr lang="en-GB" dirty="0" err="1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Responsif</a:t>
            </a:r>
            <a:r>
              <a:rPr lang="en-GB" dirty="0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4160520" y="3337560"/>
            <a:ext cx="320040" cy="320040"/>
          </a:xfrm>
          <a:prstGeom prst="rect">
            <a:avLst/>
          </a:prstGeom>
          <a:solidFill>
            <a:srgbClr val="CDC0AE"/>
          </a:solidFill>
          <a:ln/>
        </p:spPr>
      </p:sp>
      <p:sp>
        <p:nvSpPr>
          <p:cNvPr id="10" name="Text 7"/>
          <p:cNvSpPr/>
          <p:nvPr/>
        </p:nvSpPr>
        <p:spPr>
          <a:xfrm>
            <a:off x="4160520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2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❯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709160" y="3218688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4160520" y="4663440"/>
            <a:ext cx="320040" cy="320040"/>
          </a:xfrm>
          <a:prstGeom prst="rect">
            <a:avLst/>
          </a:prstGeom>
          <a:solidFill>
            <a:srgbClr val="CDC0AE"/>
          </a:solidFill>
          <a:ln/>
        </p:spPr>
      </p:sp>
      <p:sp>
        <p:nvSpPr>
          <p:cNvPr id="13" name="Text 10"/>
          <p:cNvSpPr/>
          <p:nvPr/>
        </p:nvSpPr>
        <p:spPr>
          <a:xfrm>
            <a:off x="41605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 smtClean="0">
                <a:solidFill>
                  <a:srgbClr val="3A2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❯</a:t>
            </a:r>
            <a:r>
              <a:rPr lang="en-US" sz="1400" b="1" dirty="0">
                <a:solidFill>
                  <a:srgbClr val="3A2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709160" y="4544568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00"/>
              </a:lnSpc>
            </a:pPr>
            <a:r>
              <a:rPr lang="en-US" dirty="0" err="1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</a:t>
            </a:r>
            <a:r>
              <a:rPr lang="en-US" dirty="0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</a:t>
            </a:r>
            <a:r>
              <a:rPr lang="en-US" dirty="0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mencakup</a:t>
            </a:r>
            <a:r>
              <a:rPr lang="en-US" dirty="0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pengelolaan</a:t>
            </a:r>
            <a:r>
              <a:rPr lang="en-US" dirty="0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keuangan</a:t>
            </a:r>
            <a:r>
              <a:rPr lang="en-US" dirty="0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sekolah</a:t>
            </a:r>
            <a:r>
              <a:rPr lang="en-US" dirty="0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PPDB, </a:t>
            </a:r>
            <a:r>
              <a:rPr lang="en-US" dirty="0" err="1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</a:t>
            </a:r>
            <a:r>
              <a:rPr lang="en-US" dirty="0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administrasi</a:t>
            </a:r>
            <a:r>
              <a:rPr lang="en-US" dirty="0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inventaris</a:t>
            </a:r>
            <a:r>
              <a:rPr lang="en-US" dirty="0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sekolah</a:t>
            </a:r>
            <a:r>
              <a:rPr lang="en-US" dirty="0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1147572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16" name="Text 4"/>
          <p:cNvSpPr/>
          <p:nvPr/>
        </p:nvSpPr>
        <p:spPr>
          <a:xfrm>
            <a:off x="4312920" y="2164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8" name="Shape 6"/>
          <p:cNvSpPr/>
          <p:nvPr/>
        </p:nvSpPr>
        <p:spPr>
          <a:xfrm>
            <a:off x="4206240" y="5581396"/>
            <a:ext cx="320040" cy="320040"/>
          </a:xfrm>
          <a:prstGeom prst="rect">
            <a:avLst/>
          </a:prstGeom>
          <a:solidFill>
            <a:srgbClr val="CDC0AE"/>
          </a:solidFill>
          <a:ln/>
        </p:spPr>
      </p:sp>
      <p:sp>
        <p:nvSpPr>
          <p:cNvPr id="19" name="Rectangle 18"/>
          <p:cNvSpPr/>
          <p:nvPr/>
        </p:nvSpPr>
        <p:spPr>
          <a:xfrm>
            <a:off x="4206240" y="5593659"/>
            <a:ext cx="29046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>
                <a:solidFill>
                  <a:srgbClr val="3A2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❯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4724711" y="5329765"/>
            <a:ext cx="6096000" cy="82330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1900"/>
              </a:lnSpc>
            </a:pPr>
            <a:r>
              <a:rPr lang="en-US" dirty="0" err="1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Hak</a:t>
            </a:r>
            <a:r>
              <a:rPr lang="en-US" dirty="0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akses</a:t>
            </a:r>
            <a:r>
              <a:rPr lang="en-US" dirty="0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</a:t>
            </a:r>
            <a:r>
              <a:rPr lang="en-US" dirty="0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dibatasi</a:t>
            </a:r>
            <a:r>
              <a:rPr lang="en-US" dirty="0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</a:t>
            </a:r>
            <a:r>
              <a:rPr lang="en-US" dirty="0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</a:t>
            </a:r>
            <a:r>
              <a:rPr lang="en-US" dirty="0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 </a:t>
            </a:r>
            <a:r>
              <a:rPr lang="en-US" dirty="0" err="1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aktor</a:t>
            </a:r>
            <a:r>
              <a:rPr lang="en-US" dirty="0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Administrator, </a:t>
            </a:r>
            <a:r>
              <a:rPr lang="en-US" dirty="0" err="1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Wali</a:t>
            </a:r>
            <a:r>
              <a:rPr lang="en-US" dirty="0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Kelas</a:t>
            </a:r>
            <a:r>
              <a:rPr lang="en-US" dirty="0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Guru Mata </a:t>
            </a:r>
            <a:r>
              <a:rPr lang="en-US" dirty="0" err="1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Pelajaran</a:t>
            </a:r>
            <a:r>
              <a:rPr lang="en-US" dirty="0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dirty="0" err="1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</a:t>
            </a:r>
            <a:r>
              <a:rPr lang="en-US" dirty="0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Kepala</a:t>
            </a:r>
            <a:r>
              <a:rPr lang="en-US" dirty="0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Sekolah</a:t>
            </a:r>
            <a:r>
              <a:rPr lang="en-US" dirty="0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4709160" y="3085929"/>
            <a:ext cx="6096000" cy="82330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1900"/>
              </a:lnSpc>
            </a:pPr>
            <a:r>
              <a:rPr lang="en-US" dirty="0" err="1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</a:t>
            </a:r>
            <a:r>
              <a:rPr lang="en-US" dirty="0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fokus</a:t>
            </a:r>
            <a:r>
              <a:rPr lang="en-US" dirty="0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</a:t>
            </a:r>
            <a:r>
              <a:rPr lang="en-US" dirty="0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pengelolaan</a:t>
            </a:r>
            <a:r>
              <a:rPr lang="en-US" dirty="0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 </a:t>
            </a:r>
            <a:r>
              <a:rPr lang="en-US" dirty="0" err="1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akademik</a:t>
            </a:r>
            <a:r>
              <a:rPr lang="en-US" dirty="0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dirty="0" err="1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nilai</a:t>
            </a:r>
            <a:r>
              <a:rPr lang="en-US" dirty="0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 smtClean="0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Tugas</a:t>
            </a:r>
            <a:r>
              <a:rPr lang="en-US" sz="1450" dirty="0" err="1" smtClean="0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,UH</a:t>
            </a:r>
            <a:r>
              <a:rPr lang="en-US" sz="1450" dirty="0" smtClean="0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r>
              <a:rPr lang="en-US" dirty="0" smtClean="0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UTS, </a:t>
            </a:r>
            <a:r>
              <a:rPr lang="en-US" dirty="0" smtClean="0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UAS), </a:t>
            </a:r>
            <a:r>
              <a:rPr lang="en-US" dirty="0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</a:t>
            </a:r>
            <a:r>
              <a:rPr lang="en-US" dirty="0" err="1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prestasi</a:t>
            </a:r>
            <a:r>
              <a:rPr lang="en-US" dirty="0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dirty="0" err="1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serta</a:t>
            </a:r>
            <a:r>
              <a:rPr lang="en-US" dirty="0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publikasi</a:t>
            </a:r>
            <a:r>
              <a:rPr lang="en-US" dirty="0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berita</a:t>
            </a:r>
            <a:r>
              <a:rPr lang="en-US" dirty="0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en-US" dirty="0" err="1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kegiatan</a:t>
            </a:r>
            <a:r>
              <a:rPr lang="en-US" dirty="0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sekolah</a:t>
            </a:r>
            <a:r>
              <a:rPr lang="en-US" dirty="0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TEKNOLOGI INFORMASI</a:t>
            </a:r>
            <a:endParaRPr lang="en-US" sz="1100" dirty="0"/>
          </a:p>
        </p:txBody>
      </p:sp>
      <p:pic>
        <p:nvPicPr>
          <p:cNvPr id="3" name="Image 0" descr="icon_cogs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6692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548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 — Waterfall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892040" y="841248"/>
            <a:ext cx="5943600" cy="0"/>
          </a:xfrm>
          <a:prstGeom prst="line">
            <a:avLst/>
          </a:prstGeom>
          <a:noFill/>
          <a:ln w="25400">
            <a:solidFill>
              <a:srgbClr val="CDC0A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600200"/>
            <a:ext cx="2148840" cy="3291840"/>
          </a:xfrm>
          <a:prstGeom prst="rect">
            <a:avLst/>
          </a:prstGeom>
          <a:solidFill>
            <a:srgbClr val="FFF9F1"/>
          </a:solidFill>
          <a:ln w="12700">
            <a:solidFill>
              <a:srgbClr val="CDC0A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75588" y="1874520"/>
            <a:ext cx="512064" cy="512064"/>
          </a:xfrm>
          <a:prstGeom prst="ellipse">
            <a:avLst/>
          </a:prstGeom>
          <a:solidFill>
            <a:srgbClr val="4F3816"/>
          </a:solidFill>
          <a:ln/>
        </p:spPr>
      </p:sp>
      <p:sp>
        <p:nvSpPr>
          <p:cNvPr id="8" name="Text 5"/>
          <p:cNvSpPr/>
          <p:nvPr/>
        </p:nvSpPr>
        <p:spPr>
          <a:xfrm>
            <a:off x="1275588" y="1874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DC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94360" y="25603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 Kebutuhan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1792" y="3200400"/>
            <a:ext cx="18196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400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Observasi &amp; wawancara dengan guru dan kepala sekolah untuk menentukan kebutuhan fungsional sistem.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606040" y="301752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DC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752344" y="1600200"/>
            <a:ext cx="2148840" cy="3291840"/>
          </a:xfrm>
          <a:prstGeom prst="rect">
            <a:avLst/>
          </a:prstGeom>
          <a:solidFill>
            <a:srgbClr val="EFEFEA"/>
          </a:solidFill>
          <a:ln w="12700">
            <a:solidFill>
              <a:srgbClr val="CDC0A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70732" y="1874520"/>
            <a:ext cx="512064" cy="512064"/>
          </a:xfrm>
          <a:prstGeom prst="ellipse">
            <a:avLst/>
          </a:prstGeom>
          <a:solidFill>
            <a:srgbClr val="4F3816"/>
          </a:solidFill>
          <a:ln/>
        </p:spPr>
      </p:sp>
      <p:sp>
        <p:nvSpPr>
          <p:cNvPr id="14" name="Text 11"/>
          <p:cNvSpPr/>
          <p:nvPr/>
        </p:nvSpPr>
        <p:spPr>
          <a:xfrm>
            <a:off x="3570732" y="1874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DC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2889504" y="25603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Perancangan Sistem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2916936" y="3200400"/>
            <a:ext cx="18196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400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Pemodelan UML (Use Case, Activity, Sequence, Class) serta perancangan ERD dan antarmuka (UI).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901184" y="301752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DC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047488" y="1600200"/>
            <a:ext cx="2148840" cy="3291840"/>
          </a:xfrm>
          <a:prstGeom prst="rect">
            <a:avLst/>
          </a:prstGeom>
          <a:solidFill>
            <a:srgbClr val="FFF9F1"/>
          </a:solidFill>
          <a:ln w="12700">
            <a:solidFill>
              <a:srgbClr val="CDC0A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865876" y="1874520"/>
            <a:ext cx="512064" cy="512064"/>
          </a:xfrm>
          <a:prstGeom prst="ellipse">
            <a:avLst/>
          </a:prstGeom>
          <a:solidFill>
            <a:srgbClr val="4F3816"/>
          </a:solidFill>
          <a:ln/>
        </p:spPr>
      </p:sp>
      <p:sp>
        <p:nvSpPr>
          <p:cNvPr id="20" name="Text 17"/>
          <p:cNvSpPr/>
          <p:nvPr/>
        </p:nvSpPr>
        <p:spPr>
          <a:xfrm>
            <a:off x="5865876" y="1874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DC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5184648" y="25603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Implementasi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212080" y="3200400"/>
            <a:ext cx="18196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400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Membangun sistem dengan PHP framework Laravel, Tailwind CSS, Blade, dan basis data MySQL.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196328" y="301752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DC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7342632" y="1600200"/>
            <a:ext cx="2148840" cy="3291840"/>
          </a:xfrm>
          <a:prstGeom prst="rect">
            <a:avLst/>
          </a:prstGeom>
          <a:solidFill>
            <a:srgbClr val="EFEFEA"/>
          </a:solidFill>
          <a:ln w="12700">
            <a:solidFill>
              <a:srgbClr val="CDC0A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161020" y="1874520"/>
            <a:ext cx="512064" cy="512064"/>
          </a:xfrm>
          <a:prstGeom prst="ellipse">
            <a:avLst/>
          </a:prstGeom>
          <a:solidFill>
            <a:srgbClr val="4F3816"/>
          </a:solidFill>
          <a:ln/>
        </p:spPr>
      </p:sp>
      <p:sp>
        <p:nvSpPr>
          <p:cNvPr id="26" name="Text 23"/>
          <p:cNvSpPr/>
          <p:nvPr/>
        </p:nvSpPr>
        <p:spPr>
          <a:xfrm>
            <a:off x="8161020" y="1874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DC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7479792" y="25603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Pengujian (Black Box)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7507224" y="3200400"/>
            <a:ext cx="18196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400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Menguji fungsi sistem dari sisi pengguna terhadap 50 skenario pengujian.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491472" y="301752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DC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9637776" y="1600200"/>
            <a:ext cx="2148840" cy="3291840"/>
          </a:xfrm>
          <a:prstGeom prst="rect">
            <a:avLst/>
          </a:prstGeom>
          <a:solidFill>
            <a:srgbClr val="FFF9F1"/>
          </a:solidFill>
          <a:ln w="12700">
            <a:solidFill>
              <a:srgbClr val="CDC0A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0456164" y="1874520"/>
            <a:ext cx="512064" cy="512064"/>
          </a:xfrm>
          <a:prstGeom prst="ellipse">
            <a:avLst/>
          </a:prstGeom>
          <a:solidFill>
            <a:srgbClr val="4F3816"/>
          </a:solidFill>
          <a:ln/>
        </p:spPr>
      </p:sp>
      <p:sp>
        <p:nvSpPr>
          <p:cNvPr id="32" name="Text 29"/>
          <p:cNvSpPr/>
          <p:nvPr/>
        </p:nvSpPr>
        <p:spPr>
          <a:xfrm>
            <a:off x="10456164" y="1874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DC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9774936" y="25603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Pemeliharaan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9802368" y="3200400"/>
            <a:ext cx="18196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400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Perbaikan bug dan penyesuaian fitur berdasarkan kebutuhan baru di SD Negeri 28 Kinali.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457200" y="51663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Dipilih karena kebutuhan sistem (data akademik &amp; prestasi) sudah terdefinisi jelas sejak awal penelitian.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1147572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TEKNOLOGI INFORMASI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 Sistem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Yang Sedang Berjalan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9224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Yang Diusulkan (SIPRESMA 28)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120640" cy="4206240"/>
          </a:xfrm>
          <a:prstGeom prst="rect">
            <a:avLst/>
          </a:prstGeom>
          <a:solidFill>
            <a:srgbClr val="4F3816"/>
          </a:solidFill>
          <a:ln/>
        </p:spPr>
      </p:sp>
      <p:sp>
        <p:nvSpPr>
          <p:cNvPr id="7" name="Shape 5"/>
          <p:cNvSpPr/>
          <p:nvPr/>
        </p:nvSpPr>
        <p:spPr>
          <a:xfrm>
            <a:off x="6492240" y="1828800"/>
            <a:ext cx="5120640" cy="4206240"/>
          </a:xfrm>
          <a:prstGeom prst="rect">
            <a:avLst/>
          </a:prstGeom>
          <a:solidFill>
            <a:srgbClr val="CDC0A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574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Pengolahan nilai dilakukan manual dengan buku nilai fisik dan Microsoft Excel terpisah tiap wali kelas.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08152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Rekapitulasi nilai, rata-rata, dan ranking siswa dihitung manual satu per satu.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4105656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Prestasi siswa di luar akademik sering tidak tercatat dalam satu pusat data.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5129784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Kepala Sekolah sulit memantau perkembangan prestasi siswa karena harus memeriksa arsip fisik.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66560" y="20574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3A2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Input nilai &amp; prestasi dilakukan digital dan terintegrasi dalam satu basis data (MySQL).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66560" y="308152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3A2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Kalkulasi nilai akhir, ranking kelas, dan status KKM dihitung otomatis oleh sistem.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66560" y="4105656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3A2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Prestasi akademik &amp; non-akademik tercatat lengkap beserta unggahan bukti sertifikat.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66560" y="5129784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3A2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Kepala Sekolah memantau seluruh data secara real-time melalui dashboard eksekutif &amp; grafik monitoring.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7572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TEKNOLOGI INFORMASI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Arsitektur Sistem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45236" y="2377440"/>
            <a:ext cx="3017520" cy="1737360"/>
          </a:xfrm>
          <a:prstGeom prst="roundRect">
            <a:avLst>
              <a:gd name="adj" fmla="val 6316"/>
            </a:avLst>
          </a:prstGeom>
          <a:solidFill>
            <a:srgbClr val="4F3816"/>
          </a:solidFill>
          <a:ln/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5" name="Image 0" descr="icon_lapto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" y="2670048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05356" y="25786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Client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705356" y="3035808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DCD1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Blade Templates +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DCD1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762756" y="29718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DC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85716" y="2377440"/>
            <a:ext cx="3017520" cy="1737360"/>
          </a:xfrm>
          <a:prstGeom prst="roundRect">
            <a:avLst>
              <a:gd name="adj" fmla="val 6316"/>
            </a:avLst>
          </a:prstGeom>
          <a:solidFill>
            <a:srgbClr val="77654B"/>
          </a:solidFill>
          <a:ln/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0" name="Image 1" descr="icon_cog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4316" y="2670048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45836" y="25786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Aplikasi Laravel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545836" y="3035808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DCD1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MVC + Auth + Business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DCD1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 (Laravel v11)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603236" y="29718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DC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2600" dirty="0"/>
          </a:p>
        </p:txBody>
      </p:sp>
      <p:sp>
        <p:nvSpPr>
          <p:cNvPr id="14" name="Shape 10"/>
          <p:cNvSpPr/>
          <p:nvPr/>
        </p:nvSpPr>
        <p:spPr>
          <a:xfrm>
            <a:off x="8426196" y="2377440"/>
            <a:ext cx="3017520" cy="1737360"/>
          </a:xfrm>
          <a:prstGeom prst="roundRect">
            <a:avLst>
              <a:gd name="adj" fmla="val 6316"/>
            </a:avLst>
          </a:prstGeom>
          <a:solidFill>
            <a:srgbClr val="3A2810"/>
          </a:solidFill>
          <a:ln/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5" name="Image 2" descr="icon_datab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4796" y="2670048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386316" y="25786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MySQL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9386316" y="3035808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DCD1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Penyimpanan data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DCD1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terpusat &amp; relasional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745236" y="4663440"/>
            <a:ext cx="10698480" cy="685800"/>
          </a:xfrm>
          <a:prstGeom prst="rect">
            <a:avLst/>
          </a:prstGeom>
          <a:solidFill>
            <a:srgbClr val="FFF9F1"/>
          </a:solidFill>
          <a:ln w="12700">
            <a:solidFill>
              <a:srgbClr val="CDC0AE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928116" y="466344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Request/Response via HTTP  •  Autentikasi Session &amp; Middleware Role-based  •  Ekspor PDF via Laravel-DomPDF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147572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TEKNOLOGI INFORMASI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Teknologi Yang Digunakan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606040" cy="1965960"/>
          </a:xfrm>
          <a:prstGeom prst="rect">
            <a:avLst/>
          </a:prstGeom>
          <a:solidFill>
            <a:srgbClr val="FFF9F1"/>
          </a:solidFill>
          <a:ln w="12700">
            <a:solidFill>
              <a:srgbClr val="E0E0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40180" y="192024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DC0AE"/>
            </a:solidFill>
            <a:prstDash val="solid"/>
          </a:ln>
        </p:spPr>
      </p:sp>
      <p:pic>
        <p:nvPicPr>
          <p:cNvPr id="6" name="Image 0" descr="icon_cogs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6484" y="206654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7889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Laravel v11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46120" y="1691640"/>
            <a:ext cx="2606040" cy="1965960"/>
          </a:xfrm>
          <a:prstGeom prst="rect">
            <a:avLst/>
          </a:prstGeom>
          <a:solidFill>
            <a:srgbClr val="FFF9F1"/>
          </a:solidFill>
          <a:ln w="12700">
            <a:solidFill>
              <a:srgbClr val="E0E0D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83380" y="192024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DC0AE"/>
            </a:solidFill>
            <a:prstDash val="solid"/>
          </a:ln>
        </p:spPr>
      </p:sp>
      <p:pic>
        <p:nvPicPr>
          <p:cNvPr id="10" name="Image 1" descr="icon_laptop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684" y="2066544"/>
            <a:ext cx="438912" cy="438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37560" y="27889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8.2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989320" y="1691640"/>
            <a:ext cx="2606040" cy="1965960"/>
          </a:xfrm>
          <a:prstGeom prst="rect">
            <a:avLst/>
          </a:prstGeom>
          <a:solidFill>
            <a:srgbClr val="FFF9F1"/>
          </a:solidFill>
          <a:ln w="12700">
            <a:solidFill>
              <a:srgbClr val="E0E0D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926580" y="192024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DC0AE"/>
            </a:solidFill>
            <a:prstDash val="solid"/>
          </a:ln>
        </p:spPr>
      </p:sp>
      <p:pic>
        <p:nvPicPr>
          <p:cNvPr id="14" name="Image 2" descr="icon_database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2884" y="2066544"/>
            <a:ext cx="438912" cy="4389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080760" y="27889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732520" y="1691640"/>
            <a:ext cx="2606040" cy="1965960"/>
          </a:xfrm>
          <a:prstGeom prst="rect">
            <a:avLst/>
          </a:prstGeom>
          <a:solidFill>
            <a:srgbClr val="FFF9F1"/>
          </a:solidFill>
          <a:ln w="12700">
            <a:solidFill>
              <a:srgbClr val="E0E0D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669780" y="192024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DC0AE"/>
            </a:solidFill>
            <a:prstDash val="solid"/>
          </a:ln>
        </p:spPr>
      </p:sp>
      <p:pic>
        <p:nvPicPr>
          <p:cNvPr id="18" name="Image 3" descr="icon_sitemap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6084" y="2066544"/>
            <a:ext cx="438912" cy="4389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823960" y="27889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02920" y="3886200"/>
            <a:ext cx="2606040" cy="1965960"/>
          </a:xfrm>
          <a:prstGeom prst="rect">
            <a:avLst/>
          </a:prstGeom>
          <a:solidFill>
            <a:srgbClr val="FFF9F1"/>
          </a:solidFill>
          <a:ln w="12700">
            <a:solidFill>
              <a:srgbClr val="E0E0D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440180" y="411480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DC0AE"/>
            </a:solidFill>
            <a:prstDash val="solid"/>
          </a:ln>
        </p:spPr>
      </p:sp>
      <p:pic>
        <p:nvPicPr>
          <p:cNvPr id="22" name="Image 4" descr="icon_filealt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6484" y="4261104"/>
            <a:ext cx="438912" cy="4389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94360" y="49834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Blade Templates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3246120" y="3886200"/>
            <a:ext cx="2606040" cy="1965960"/>
          </a:xfrm>
          <a:prstGeom prst="rect">
            <a:avLst/>
          </a:prstGeom>
          <a:solidFill>
            <a:srgbClr val="FFF9F1"/>
          </a:solidFill>
          <a:ln w="12700">
            <a:solidFill>
              <a:srgbClr val="E0E0DA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4183380" y="411480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DC0AE"/>
            </a:solidFill>
            <a:prstDash val="solid"/>
          </a:ln>
        </p:spPr>
      </p:sp>
      <p:pic>
        <p:nvPicPr>
          <p:cNvPr id="26" name="Image 5" descr="icon_filepdf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9684" y="4261104"/>
            <a:ext cx="438912" cy="43891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337560" y="49834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Laravel-DomPDF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5989320" y="3886200"/>
            <a:ext cx="2606040" cy="1965960"/>
          </a:xfrm>
          <a:prstGeom prst="rect">
            <a:avLst/>
          </a:prstGeom>
          <a:solidFill>
            <a:srgbClr val="FFF9F1"/>
          </a:solidFill>
          <a:ln w="12700">
            <a:solidFill>
              <a:srgbClr val="E0E0DA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6926580" y="411480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DC0AE"/>
            </a:solidFill>
            <a:prstDash val="solid"/>
          </a:ln>
        </p:spPr>
      </p:sp>
      <p:pic>
        <p:nvPicPr>
          <p:cNvPr id="30" name="Image 6" descr="icon_lightbulb_nav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72884" y="4261104"/>
            <a:ext cx="438912" cy="43891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080760" y="49834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8732520" y="3886200"/>
            <a:ext cx="2606040" cy="1965960"/>
          </a:xfrm>
          <a:prstGeom prst="rect">
            <a:avLst/>
          </a:prstGeom>
          <a:solidFill>
            <a:srgbClr val="FFF9F1"/>
          </a:solidFill>
          <a:ln w="12700">
            <a:solidFill>
              <a:srgbClr val="E0E0DA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9669780" y="411480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DC0AE"/>
            </a:solidFill>
            <a:prstDash val="solid"/>
          </a:ln>
        </p:spPr>
      </p:sp>
      <p:pic>
        <p:nvPicPr>
          <p:cNvPr id="34" name="Image 7" descr="icon_projdiagram_nav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16084" y="4261104"/>
            <a:ext cx="438912" cy="438912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8823960" y="49834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Draw.io (UML/ERD)</a:t>
            </a:r>
            <a:endParaRPr lang="en-US" sz="1300" dirty="0"/>
          </a:p>
        </p:txBody>
      </p:sp>
      <p:sp>
        <p:nvSpPr>
          <p:cNvPr id="36" name="Text 26"/>
          <p:cNvSpPr/>
          <p:nvPr/>
        </p:nvSpPr>
        <p:spPr>
          <a:xfrm>
            <a:off x="1147572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38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F3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CDC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TEKNOLOGI INFORMASI</a:t>
            </a:r>
            <a:endParaRPr lang="en-US" sz="1100" dirty="0"/>
          </a:p>
        </p:txBody>
      </p:sp>
      <p:pic>
        <p:nvPicPr>
          <p:cNvPr id="3" name="Image 0" descr="icon_usershield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17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56692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 dan Peranan Pengguna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691640"/>
            <a:ext cx="2606040" cy="4206240"/>
          </a:xfrm>
          <a:prstGeom prst="rect">
            <a:avLst/>
          </a:prstGeom>
          <a:solidFill>
            <a:srgbClr val="FFF9F1"/>
          </a:solidFill>
          <a:ln/>
        </p:spPr>
      </p:sp>
      <p:sp>
        <p:nvSpPr>
          <p:cNvPr id="6" name="Shape 3"/>
          <p:cNvSpPr/>
          <p:nvPr/>
        </p:nvSpPr>
        <p:spPr>
          <a:xfrm>
            <a:off x="1394460" y="1965960"/>
            <a:ext cx="731520" cy="731520"/>
          </a:xfrm>
          <a:prstGeom prst="ellipse">
            <a:avLst/>
          </a:prstGeom>
          <a:solidFill>
            <a:srgbClr val="DCD1C1"/>
          </a:solidFill>
          <a:ln/>
        </p:spPr>
      </p:sp>
      <p:pic>
        <p:nvPicPr>
          <p:cNvPr id="7" name="Image 1" descr="icon_usershield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2476" y="2093976"/>
            <a:ext cx="475488" cy="4754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28346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621792" y="342900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400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Kelola data master (guru, siswa, kelas, mapel, tahun ajaran)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21792" y="4005072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400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Kelola penugasan guru &amp; akun pengguna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21792" y="4581144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400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Proses kenaikan kelas massal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21792" y="5157216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400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Monitoring nilai &amp; prestasi keseluruhan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3246120" y="1691640"/>
            <a:ext cx="2606040" cy="4206240"/>
          </a:xfrm>
          <a:prstGeom prst="rect">
            <a:avLst/>
          </a:prstGeom>
          <a:solidFill>
            <a:srgbClr val="FFF9F1"/>
          </a:solidFill>
          <a:ln/>
        </p:spPr>
      </p:sp>
      <p:sp>
        <p:nvSpPr>
          <p:cNvPr id="14" name="Shape 10"/>
          <p:cNvSpPr/>
          <p:nvPr/>
        </p:nvSpPr>
        <p:spPr>
          <a:xfrm>
            <a:off x="4183380" y="1965960"/>
            <a:ext cx="731520" cy="731520"/>
          </a:xfrm>
          <a:prstGeom prst="ellipse">
            <a:avLst/>
          </a:prstGeom>
          <a:solidFill>
            <a:srgbClr val="DCD1C1"/>
          </a:solidFill>
          <a:ln/>
        </p:spPr>
      </p:sp>
      <p:pic>
        <p:nvPicPr>
          <p:cNvPr id="15" name="Image 2" descr="icon_teacher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1396" y="2093976"/>
            <a:ext cx="475488" cy="4754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337560" y="28346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Wali Kelas</a:t>
            </a: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3410712" y="342900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400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Input nilai mapel umum kelas binaan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410712" y="4005072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400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Kelola data &amp; prestasi siswa di kelasnya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3410712" y="4581144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400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Monitoring KKM &amp; grafik nilai kelas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3410712" y="5157216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400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Cetak Laporan Hasil Belajar (Rapor)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035040" y="1691640"/>
            <a:ext cx="2606040" cy="4206240"/>
          </a:xfrm>
          <a:prstGeom prst="rect">
            <a:avLst/>
          </a:prstGeom>
          <a:solidFill>
            <a:srgbClr val="FFF9F1"/>
          </a:solidFill>
          <a:ln/>
        </p:spPr>
      </p:sp>
      <p:sp>
        <p:nvSpPr>
          <p:cNvPr id="22" name="Shape 17"/>
          <p:cNvSpPr/>
          <p:nvPr/>
        </p:nvSpPr>
        <p:spPr>
          <a:xfrm>
            <a:off x="6972300" y="1965960"/>
            <a:ext cx="731520" cy="731520"/>
          </a:xfrm>
          <a:prstGeom prst="ellipse">
            <a:avLst/>
          </a:prstGeom>
          <a:solidFill>
            <a:srgbClr val="DCD1C1"/>
          </a:solidFill>
          <a:ln/>
        </p:spPr>
      </p:sp>
      <p:pic>
        <p:nvPicPr>
          <p:cNvPr id="23" name="Image 3" descr="icon_chartline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0316" y="2093976"/>
            <a:ext cx="475488" cy="4754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126480" y="28346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Guru Mata Pelajaran</a:t>
            </a:r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6199632" y="342900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400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Input nilai mapel khusus yang diampu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6199632" y="4005072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400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Melihat kelas sesuai penugasan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6199632" y="4581144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400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Mengubah &amp; meninjau nilai siswa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8823960" y="1691640"/>
            <a:ext cx="2606040" cy="4206240"/>
          </a:xfrm>
          <a:prstGeom prst="rect">
            <a:avLst/>
          </a:prstGeom>
          <a:solidFill>
            <a:srgbClr val="FFF9F1"/>
          </a:solidFill>
          <a:ln/>
        </p:spPr>
      </p:sp>
      <p:sp>
        <p:nvSpPr>
          <p:cNvPr id="29" name="Shape 23"/>
          <p:cNvSpPr/>
          <p:nvPr/>
        </p:nvSpPr>
        <p:spPr>
          <a:xfrm>
            <a:off x="9761220" y="1965960"/>
            <a:ext cx="731520" cy="731520"/>
          </a:xfrm>
          <a:prstGeom prst="ellipse">
            <a:avLst/>
          </a:prstGeom>
          <a:solidFill>
            <a:srgbClr val="DCD1C1"/>
          </a:solidFill>
          <a:ln/>
        </p:spPr>
      </p:sp>
      <p:pic>
        <p:nvPicPr>
          <p:cNvPr id="30" name="Image 4" descr="icon_usergraduate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89236" y="2093976"/>
            <a:ext cx="475488" cy="47548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915400" y="28346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Kepala Sekolah</a:t>
            </a:r>
            <a:endParaRPr lang="en-US" dirty="0"/>
          </a:p>
        </p:txBody>
      </p:sp>
      <p:sp>
        <p:nvSpPr>
          <p:cNvPr id="32" name="Text 25"/>
          <p:cNvSpPr/>
          <p:nvPr/>
        </p:nvSpPr>
        <p:spPr>
          <a:xfrm>
            <a:off x="8988552" y="342900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400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Mengakses dashboard eksekutif sekolah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8988552" y="4005072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400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Monitoring nilai &amp; prestasi seluruh siswa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8988552" y="4581144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400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Mengunduh &amp; mencetak Rapor / Rekap PDF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1147572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TEKNOLOGI INFORMASI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406640" y="5029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Usecase Diagram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406640" y="1097280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Diagram menggambarkan interaksi antara empat aktor utama (Admin, Wali Kelas, Guru Mata Pelajaran, dan Kepala Sekolah) dengan seluruh fungsi sistem SIPRESMA 28.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406640" y="2423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Aktor: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06640" y="2788920"/>
            <a:ext cx="146304" cy="146304"/>
          </a:xfrm>
          <a:prstGeom prst="ellipse">
            <a:avLst/>
          </a:prstGeom>
          <a:solidFill>
            <a:srgbClr val="CDC0AE"/>
          </a:solidFill>
          <a:ln/>
        </p:spPr>
      </p:sp>
      <p:sp>
        <p:nvSpPr>
          <p:cNvPr id="7" name="Text 5"/>
          <p:cNvSpPr/>
          <p:nvPr/>
        </p:nvSpPr>
        <p:spPr>
          <a:xfrm>
            <a:off x="7699248" y="26883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06640" y="3246120"/>
            <a:ext cx="146304" cy="146304"/>
          </a:xfrm>
          <a:prstGeom prst="ellipse">
            <a:avLst/>
          </a:prstGeom>
          <a:solidFill>
            <a:srgbClr val="CDC0AE"/>
          </a:solidFill>
          <a:ln/>
        </p:spPr>
      </p:sp>
      <p:sp>
        <p:nvSpPr>
          <p:cNvPr id="9" name="Text 7"/>
          <p:cNvSpPr/>
          <p:nvPr/>
        </p:nvSpPr>
        <p:spPr>
          <a:xfrm>
            <a:off x="7699248" y="31455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Wali Kelas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06640" y="3703320"/>
            <a:ext cx="146304" cy="146304"/>
          </a:xfrm>
          <a:prstGeom prst="ellipse">
            <a:avLst/>
          </a:prstGeom>
          <a:solidFill>
            <a:srgbClr val="CDC0AE"/>
          </a:solidFill>
          <a:ln/>
        </p:spPr>
      </p:sp>
      <p:sp>
        <p:nvSpPr>
          <p:cNvPr id="11" name="Text 9"/>
          <p:cNvSpPr/>
          <p:nvPr/>
        </p:nvSpPr>
        <p:spPr>
          <a:xfrm>
            <a:off x="7699248" y="36027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Guru Mapel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406640" y="4160520"/>
            <a:ext cx="146304" cy="146304"/>
          </a:xfrm>
          <a:prstGeom prst="ellipse">
            <a:avLst/>
          </a:prstGeom>
          <a:solidFill>
            <a:srgbClr val="CDC0AE"/>
          </a:solidFill>
          <a:ln/>
        </p:spPr>
      </p:sp>
      <p:sp>
        <p:nvSpPr>
          <p:cNvPr id="13" name="Text 11"/>
          <p:cNvSpPr/>
          <p:nvPr/>
        </p:nvSpPr>
        <p:spPr>
          <a:xfrm>
            <a:off x="7699248" y="40599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Kepala Sekolah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1188720"/>
            <a:ext cx="6766560" cy="5212080"/>
          </a:xfrm>
          <a:prstGeom prst="rect">
            <a:avLst/>
          </a:prstGeom>
          <a:solidFill>
            <a:srgbClr val="FFF9F1"/>
          </a:solidFill>
          <a:ln w="12700">
            <a:solidFill>
              <a:srgbClr val="DADAD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47572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pic>
        <p:nvPicPr>
          <p:cNvPr id="17" name="Picture 2" descr="D:\TA\PROSES TA\UML\USECASE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4014" y="1175257"/>
            <a:ext cx="4938248" cy="5230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TEKNOLOGI INFORMASI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Peran Aktor Usecase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743200" cy="4846320"/>
          </a:xfrm>
          <a:prstGeom prst="rect">
            <a:avLst/>
          </a:prstGeom>
          <a:solidFill>
            <a:srgbClr val="4F3816"/>
          </a:solidFill>
          <a:ln/>
        </p:spPr>
      </p:sp>
      <p:pic>
        <p:nvPicPr>
          <p:cNvPr id="5" name="Image 0" descr="icon_user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768" y="1600200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194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21792" y="2788920"/>
            <a:ext cx="2414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Login &amp; logout mengamankan sesi akses.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21792" y="3657600"/>
            <a:ext cx="2414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Mengelola seluruh data master sistem (pengguna, guru, kelas, siswa, mapel, tahun ajaran, penugasan).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21792" y="4526280"/>
            <a:ext cx="2414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Memproses kenaikan kelas siswa secara massal.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1792" y="5394960"/>
            <a:ext cx="2414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Memantau nilai &amp; prestasi siswa secara keseluruhan.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319272" y="1371600"/>
            <a:ext cx="2743200" cy="4846320"/>
          </a:xfrm>
          <a:prstGeom prst="rect">
            <a:avLst/>
          </a:prstGeom>
          <a:solidFill>
            <a:srgbClr val="77654B"/>
          </a:solidFill>
          <a:ln/>
        </p:spPr>
      </p:sp>
      <p:pic>
        <p:nvPicPr>
          <p:cNvPr id="12" name="Image 1" descr="icon_teach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600200"/>
            <a:ext cx="512064" cy="5120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10712" y="2194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Wali Kelas</a:t>
            </a: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3483864" y="2788920"/>
            <a:ext cx="2414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Login &amp; logout mengamankan sesi akses.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483864" y="3657600"/>
            <a:ext cx="2414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Melihat data siswa &amp; mengelola prestasi siswa di kelas binaannya.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483864" y="4526280"/>
            <a:ext cx="2414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Menginput nilai perkembangan siswa (nilai akhir mapel).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483864" y="5394960"/>
            <a:ext cx="2414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Mengelola rekap nilai kelas &amp; mencetak Rapor.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181344" y="1371600"/>
            <a:ext cx="2743200" cy="4846320"/>
          </a:xfrm>
          <a:prstGeom prst="rect">
            <a:avLst/>
          </a:prstGeom>
          <a:solidFill>
            <a:srgbClr val="4F3816"/>
          </a:solidFill>
          <a:ln/>
        </p:spPr>
      </p:sp>
      <p:pic>
        <p:nvPicPr>
          <p:cNvPr id="19" name="Image 2" descr="icon_chartlin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912" y="1600200"/>
            <a:ext cx="512064" cy="5120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72784" y="2194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Guru Mata Pelajaran</a:t>
            </a: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6345936" y="2788920"/>
            <a:ext cx="2414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Login &amp; logout mengamankan sesi akses.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345936" y="3657600"/>
            <a:ext cx="2414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Menginput, mengubah, dan melihat nilai mata pelajaran yang diampu sesuai kelas yang ditugaskan.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9043416" y="1371600"/>
            <a:ext cx="2743200" cy="4846320"/>
          </a:xfrm>
          <a:prstGeom prst="rect">
            <a:avLst/>
          </a:prstGeom>
          <a:solidFill>
            <a:srgbClr val="77654B"/>
          </a:solidFill>
          <a:ln/>
        </p:spPr>
      </p:sp>
      <p:pic>
        <p:nvPicPr>
          <p:cNvPr id="24" name="Image 3" descr="icon_usergraduat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8984" y="1600200"/>
            <a:ext cx="512064" cy="5120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34856" y="2194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Kepala Sekolah</a:t>
            </a: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9208008" y="2788920"/>
            <a:ext cx="2414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Login &amp; logout mengamankan sesi akses.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9208008" y="3657600"/>
            <a:ext cx="2414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Memantau rekapitulasi nilai akademik seluruh siswa.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9208008" y="4526280"/>
            <a:ext cx="2414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Memantau data prestasi akademik &amp; non-akademik siswa.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9208008" y="5394960"/>
            <a:ext cx="2414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Mengunduh dan mencetak Laporan Hasil Belajar (Rapor).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1147572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TEKNOLOGI INFORMASI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Unggulan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052560" y="0"/>
            <a:ext cx="3136392" cy="6858000"/>
          </a:xfrm>
          <a:prstGeom prst="rect">
            <a:avLst/>
          </a:prstGeom>
          <a:solidFill>
            <a:srgbClr val="4F3816"/>
          </a:solidFill>
          <a:ln/>
        </p:spPr>
      </p:sp>
      <p:pic>
        <p:nvPicPr>
          <p:cNvPr id="5" name="Image 0" descr="icon_chartbar_gold.png"/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9966960" y="2743200"/>
            <a:ext cx="1371600" cy="1371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435608"/>
            <a:ext cx="457200" cy="457200"/>
          </a:xfrm>
          <a:prstGeom prst="ellipse">
            <a:avLst/>
          </a:prstGeom>
          <a:solidFill>
            <a:srgbClr val="CDC0AE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51560" y="136245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Nilai Massal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51560" y="1746504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grading grid untuk input nilai Tugas, UH, UTS, UAS seluruh siswa dalam satu kelas sekaligus.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63440" y="1435608"/>
            <a:ext cx="457200" cy="457200"/>
          </a:xfrm>
          <a:prstGeom prst="ellipse">
            <a:avLst/>
          </a:prstGeom>
          <a:solidFill>
            <a:srgbClr val="CDC0AE"/>
          </a:solidFill>
          <a:ln/>
        </p:spPr>
      </p:sp>
      <p:sp>
        <p:nvSpPr>
          <p:cNvPr id="11" name="Text 8"/>
          <p:cNvSpPr/>
          <p:nvPr/>
        </p:nvSpPr>
        <p:spPr>
          <a:xfrm>
            <a:off x="466344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257800" y="136245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Kalkulasi Otomatis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257800" y="1746504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Nilai akhir dihitung otomatis dengan bobot Tugas 20%, UH 20%, UTS 30%, UAS 30%.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2852928"/>
            <a:ext cx="457200" cy="457200"/>
          </a:xfrm>
          <a:prstGeom prst="ellipse">
            <a:avLst/>
          </a:prstGeom>
          <a:solidFill>
            <a:srgbClr val="CDC0AE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51560" y="277977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Deteksi KKM Otomatis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51560" y="3163824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otomatis menandai siswa dengan nilai di bawah KKM (75) untuk program remedial.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663440" y="2852928"/>
            <a:ext cx="457200" cy="457200"/>
          </a:xfrm>
          <a:prstGeom prst="ellipse">
            <a:avLst/>
          </a:prstGeom>
          <a:solidFill>
            <a:srgbClr val="CDC0AE"/>
          </a:solidFill>
          <a:ln/>
        </p:spPr>
      </p:sp>
      <p:sp>
        <p:nvSpPr>
          <p:cNvPr id="19" name="Text 16"/>
          <p:cNvSpPr/>
          <p:nvPr/>
        </p:nvSpPr>
        <p:spPr>
          <a:xfrm>
            <a:off x="4663440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257800" y="277977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Kelas Instan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257800" y="3163824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menghitung dan mengurutkan peringkat siswa secara otomatis dan real-time.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57200" y="4270248"/>
            <a:ext cx="457200" cy="457200"/>
          </a:xfrm>
          <a:prstGeom prst="ellipse">
            <a:avLst/>
          </a:prstGeom>
          <a:solidFill>
            <a:srgbClr val="CDC0AE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4270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51560" y="419709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Prestasi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051560" y="4581144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Pencatatan prestasi akademik &amp; non-akademik lengkap dengan unggahan bukti sertifikat.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663440" y="4270248"/>
            <a:ext cx="457200" cy="457200"/>
          </a:xfrm>
          <a:prstGeom prst="ellipse">
            <a:avLst/>
          </a:prstGeom>
          <a:solidFill>
            <a:srgbClr val="CDC0AE"/>
          </a:solidFill>
          <a:ln/>
        </p:spPr>
      </p:sp>
      <p:sp>
        <p:nvSpPr>
          <p:cNvPr id="27" name="Text 24"/>
          <p:cNvSpPr/>
          <p:nvPr/>
        </p:nvSpPr>
        <p:spPr>
          <a:xfrm>
            <a:off x="4663440" y="4270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257800" y="419709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Cetak Rapor &amp; Rekap PDF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257800" y="4581144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Ekspor Laporan Hasil Belajar dan rekap nilai/prestasi ke PDF melalui Laravel-DomPDF.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1147572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TEKNOLOGI INFORMASI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Diagram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Pengguna &amp; Akses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700784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– akun login (admin/wali kelas/guru/kepsek); guru – profil guru terhubung ke wali_kelas_history.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5786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Master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90779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kelas, mapels, tahun_ajarans, kegiatans – data referensi sekolah.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78561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Nilai &amp; Rapor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nilai – pencatatan &amp; kalkulasi nilai akhir; guru_mapel_kelas – penugasan mengajar.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99262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Prestasi Siswa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532180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prestasi – rekam prestasi akademik/non-akademik beserta bukti sertifikat.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92040" y="1051560"/>
            <a:ext cx="6858000" cy="5577840"/>
          </a:xfrm>
          <a:prstGeom prst="rect">
            <a:avLst/>
          </a:prstGeom>
          <a:solidFill>
            <a:srgbClr val="FFF9F1"/>
          </a:solidFill>
          <a:ln w="12700">
            <a:solidFill>
              <a:srgbClr val="DADAD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47572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pic>
        <p:nvPicPr>
          <p:cNvPr id="2051" name="Picture 3" descr="D:\TA\PROSES TA\UML\class diagram 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1018" y="1122397"/>
            <a:ext cx="4177316" cy="5436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TEKNOLOGI INFORMASI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863840" y="5486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21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Relationship</a:t>
            </a:r>
            <a:endParaRPr lang="en-US" sz="21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21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 (ERD)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6002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ERD menggambarkan hubungan antar tabel dalam Sistem Informasi SIPRESMA 28. Total: 9 entitas utama.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863840" y="2651760"/>
            <a:ext cx="91440" cy="91440"/>
          </a:xfrm>
          <a:prstGeom prst="ellipse">
            <a:avLst/>
          </a:prstGeom>
          <a:solidFill>
            <a:srgbClr val="CDC0AE"/>
          </a:solidFill>
          <a:ln/>
        </p:spPr>
      </p:sp>
      <p:sp>
        <p:nvSpPr>
          <p:cNvPr id="6" name="Text 4"/>
          <p:cNvSpPr/>
          <p:nvPr/>
        </p:nvSpPr>
        <p:spPr>
          <a:xfrm>
            <a:off x="8092440" y="253288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1:1 guru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863840" y="3035808"/>
            <a:ext cx="91440" cy="91440"/>
          </a:xfrm>
          <a:prstGeom prst="ellipse">
            <a:avLst/>
          </a:prstGeom>
          <a:solidFill>
            <a:srgbClr val="CDC0AE"/>
          </a:solidFill>
          <a:ln/>
        </p:spPr>
      </p:sp>
      <p:sp>
        <p:nvSpPr>
          <p:cNvPr id="8" name="Text 6"/>
          <p:cNvSpPr/>
          <p:nvPr/>
        </p:nvSpPr>
        <p:spPr>
          <a:xfrm>
            <a:off x="8092440" y="291693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guru 1:N wali_kelas_history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63840" y="3419856"/>
            <a:ext cx="91440" cy="91440"/>
          </a:xfrm>
          <a:prstGeom prst="ellipse">
            <a:avLst/>
          </a:prstGeom>
          <a:solidFill>
            <a:srgbClr val="CDC0AE"/>
          </a:solidFill>
          <a:ln/>
        </p:spPr>
      </p:sp>
      <p:sp>
        <p:nvSpPr>
          <p:cNvPr id="10" name="Text 8"/>
          <p:cNvSpPr/>
          <p:nvPr/>
        </p:nvSpPr>
        <p:spPr>
          <a:xfrm>
            <a:off x="8092440" y="3300984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kelas 1:N siswa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863840" y="3803904"/>
            <a:ext cx="91440" cy="91440"/>
          </a:xfrm>
          <a:prstGeom prst="ellipse">
            <a:avLst/>
          </a:prstGeom>
          <a:solidFill>
            <a:srgbClr val="CDC0AE"/>
          </a:solidFill>
          <a:ln/>
        </p:spPr>
      </p:sp>
      <p:sp>
        <p:nvSpPr>
          <p:cNvPr id="12" name="Text 10"/>
          <p:cNvSpPr/>
          <p:nvPr/>
        </p:nvSpPr>
        <p:spPr>
          <a:xfrm>
            <a:off x="8092440" y="368503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siswa 1:N nilai &amp; prestasi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863840" y="4187952"/>
            <a:ext cx="91440" cy="91440"/>
          </a:xfrm>
          <a:prstGeom prst="ellipse">
            <a:avLst/>
          </a:prstGeom>
          <a:solidFill>
            <a:srgbClr val="CDC0AE"/>
          </a:solidFill>
          <a:ln/>
        </p:spPr>
      </p:sp>
      <p:sp>
        <p:nvSpPr>
          <p:cNvPr id="14" name="Text 12"/>
          <p:cNvSpPr/>
          <p:nvPr/>
        </p:nvSpPr>
        <p:spPr>
          <a:xfrm>
            <a:off x="8092440" y="40690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guru_mapel_kelas menghubungkan guru, kelas &amp; mapel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863840" y="4572000"/>
            <a:ext cx="91440" cy="91440"/>
          </a:xfrm>
          <a:prstGeom prst="ellipse">
            <a:avLst/>
          </a:prstGeom>
          <a:solidFill>
            <a:srgbClr val="CDC0AE"/>
          </a:solidFill>
          <a:ln/>
        </p:spPr>
      </p:sp>
      <p:sp>
        <p:nvSpPr>
          <p:cNvPr id="16" name="Text 14"/>
          <p:cNvSpPr/>
          <p:nvPr/>
        </p:nvSpPr>
        <p:spPr>
          <a:xfrm>
            <a:off x="8092440" y="445312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siswa 1:1 rapor_siswa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1071438"/>
            <a:ext cx="7315200" cy="5532120"/>
          </a:xfrm>
          <a:prstGeom prst="rect">
            <a:avLst/>
          </a:prstGeom>
          <a:solidFill>
            <a:srgbClr val="FFF9F1"/>
          </a:solidFill>
          <a:ln w="12700">
            <a:solidFill>
              <a:srgbClr val="DADAD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47572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pic>
        <p:nvPicPr>
          <p:cNvPr id="1026" name="Picture 2" descr="D:\TA\PROSES TA\UML\ERD FINAL-Page-1.drawi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6281" y="1117600"/>
            <a:ext cx="3383235" cy="5382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4F3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3A2810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206240"/>
            <a:ext cx="4023360" cy="4023360"/>
          </a:xfrm>
          <a:prstGeom prst="ellipse">
            <a:avLst/>
          </a:prstGeom>
          <a:solidFill>
            <a:srgbClr val="77654B">
              <a:alpha val="28000"/>
            </a:srgbClr>
          </a:solidFill>
          <a:ln/>
        </p:spPr>
      </p:sp>
      <p:pic>
        <p:nvPicPr>
          <p:cNvPr id="4" name="Image 0" descr="icon_laptop_gold.png"/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5394960" y="22860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50292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PROJECT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147572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_checkcircl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384048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77840" y="3474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Pengujian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TEKNOLOGI INFORMASI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3657600" cy="1554480"/>
          </a:xfrm>
          <a:prstGeom prst="rect">
            <a:avLst/>
          </a:prstGeom>
          <a:solidFill>
            <a:srgbClr val="FFF9F1"/>
          </a:solidFill>
          <a:ln w="12700">
            <a:solidFill>
              <a:srgbClr val="CDC0A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2984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Metode Pengujian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40080" y="1627632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Black Box Testing</a:t>
            </a:r>
            <a:endParaRPr lang="en-US" sz="14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Menguji fungsi sistem</a:t>
            </a:r>
            <a:endParaRPr lang="en-US" sz="14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Menguji kesesuaian input &amp; output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880360"/>
            <a:ext cx="3657600" cy="1280160"/>
          </a:xfrm>
          <a:prstGeom prst="rect">
            <a:avLst/>
          </a:prstGeom>
          <a:solidFill>
            <a:srgbClr val="4F3816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9718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DC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1874520" y="301752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Skenario Pengujian</a:t>
            </a:r>
            <a:endParaRPr lang="en-US" sz="14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Fungsional Black Box</a:t>
            </a:r>
            <a:endParaRPr lang="en-US" sz="14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Seluruh hasil dinyatakan Sesuai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4297680"/>
            <a:ext cx="1737360" cy="502920"/>
          </a:xfrm>
          <a:prstGeom prst="rect">
            <a:avLst/>
          </a:prstGeom>
          <a:solidFill>
            <a:srgbClr val="DCD1C1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42976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331720" y="42976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50"/>
              </a:lnSpc>
              <a:buNone/>
            </a:pPr>
            <a:r>
              <a:rPr lang="en-US" sz="14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Autentikasi &amp; Data Master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4873752"/>
            <a:ext cx="1737360" cy="502920"/>
          </a:xfrm>
          <a:prstGeom prst="rect">
            <a:avLst/>
          </a:prstGeom>
          <a:solidFill>
            <a:srgbClr val="DCD1C1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48737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331720" y="487375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50"/>
              </a:lnSpc>
              <a:buNone/>
            </a:pPr>
            <a:r>
              <a:rPr lang="en-US" sz="14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Nilai &amp; Rapor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57200" y="5449824"/>
            <a:ext cx="1737360" cy="502920"/>
          </a:xfrm>
          <a:prstGeom prst="rect">
            <a:avLst/>
          </a:prstGeom>
          <a:solidFill>
            <a:srgbClr val="DCD1C1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544982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2331720" y="5449824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50"/>
              </a:lnSpc>
              <a:buNone/>
            </a:pPr>
            <a:r>
              <a:rPr lang="en-US" sz="14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Prestasi Siswa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57200" y="6025896"/>
            <a:ext cx="1737360" cy="502920"/>
          </a:xfrm>
          <a:prstGeom prst="rect">
            <a:avLst/>
          </a:prstGeom>
          <a:solidFill>
            <a:srgbClr val="DCD1C1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602589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2331720" y="602589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50"/>
              </a:lnSpc>
              <a:buNone/>
            </a:pPr>
            <a:r>
              <a:rPr lang="en-US" sz="14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Kenaikan Kelas &amp; Laporan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434840" y="1188720"/>
            <a:ext cx="3063240" cy="384048"/>
          </a:xfrm>
          <a:prstGeom prst="rect">
            <a:avLst/>
          </a:prstGeom>
          <a:solidFill>
            <a:srgbClr val="4F3816"/>
          </a:solidFill>
          <a:ln w="9525">
            <a:solidFill>
              <a:srgbClr val="DADAD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07992" y="1188720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Skenario Uji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498080" y="1188720"/>
            <a:ext cx="3017520" cy="384048"/>
          </a:xfrm>
          <a:prstGeom prst="rect">
            <a:avLst/>
          </a:prstGeom>
          <a:solidFill>
            <a:srgbClr val="4F3816"/>
          </a:solidFill>
          <a:ln w="9525">
            <a:solidFill>
              <a:srgbClr val="DADAD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71232" y="1188720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 Diharapkan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10515600" y="1188720"/>
            <a:ext cx="1188720" cy="384048"/>
          </a:xfrm>
          <a:prstGeom prst="rect">
            <a:avLst/>
          </a:prstGeom>
          <a:solidFill>
            <a:srgbClr val="4F3816"/>
          </a:solidFill>
          <a:ln w="9525">
            <a:solidFill>
              <a:srgbClr val="DADAD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588752" y="1188720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4434840" y="1572768"/>
            <a:ext cx="30632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AD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07992" y="1572768"/>
            <a:ext cx="2916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400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sesuai peran (4 aktor)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7498080" y="1572768"/>
            <a:ext cx="30175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AD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571232" y="1572768"/>
            <a:ext cx="2871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400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Redirect ke beranda sesuai role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10515600" y="1572768"/>
            <a:ext cx="11887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AD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588752" y="1572768"/>
            <a:ext cx="10424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Sesuai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4434840" y="2194560"/>
            <a:ext cx="3063240" cy="621792"/>
          </a:xfrm>
          <a:prstGeom prst="rect">
            <a:avLst/>
          </a:prstGeom>
          <a:solidFill>
            <a:srgbClr val="FFF9F1"/>
          </a:solidFill>
          <a:ln w="9525">
            <a:solidFill>
              <a:srgbClr val="DADAD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507992" y="2194560"/>
            <a:ext cx="2916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400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Tambah pengguna baru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7498080" y="2194560"/>
            <a:ext cx="3017520" cy="621792"/>
          </a:xfrm>
          <a:prstGeom prst="rect">
            <a:avLst/>
          </a:prstGeom>
          <a:solidFill>
            <a:srgbClr val="FFF9F1"/>
          </a:solidFill>
          <a:ln w="9525">
            <a:solidFill>
              <a:srgbClr val="DADAD2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571232" y="2194560"/>
            <a:ext cx="2871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400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Akun tersimpan &amp; tampil di tabel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10515600" y="2194560"/>
            <a:ext cx="1188720" cy="621792"/>
          </a:xfrm>
          <a:prstGeom prst="rect">
            <a:avLst/>
          </a:prstGeom>
          <a:solidFill>
            <a:srgbClr val="FFF9F1"/>
          </a:solidFill>
          <a:ln w="9525">
            <a:solidFill>
              <a:srgbClr val="DADAD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588752" y="2194560"/>
            <a:ext cx="10424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Sesuai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4434840" y="2816352"/>
            <a:ext cx="30632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AD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07992" y="2816352"/>
            <a:ext cx="2916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400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nilai massal &amp; hitung otomatis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7498080" y="2816352"/>
            <a:ext cx="30175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AD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571232" y="2816352"/>
            <a:ext cx="2871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400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Nilai akhir &amp; status KKM terhitung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10515600" y="2816352"/>
            <a:ext cx="11887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AD2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0588752" y="2816352"/>
            <a:ext cx="10424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Sesuai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4434840" y="3438144"/>
            <a:ext cx="3063240" cy="621792"/>
          </a:xfrm>
          <a:prstGeom prst="rect">
            <a:avLst/>
          </a:prstGeom>
          <a:solidFill>
            <a:srgbClr val="FFF9F1"/>
          </a:solidFill>
          <a:ln w="9525">
            <a:solidFill>
              <a:srgbClr val="DADAD2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507992" y="3438144"/>
            <a:ext cx="2916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400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Kenaikan kelas massal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7498080" y="3438144"/>
            <a:ext cx="3017520" cy="621792"/>
          </a:xfrm>
          <a:prstGeom prst="rect">
            <a:avLst/>
          </a:prstGeom>
          <a:solidFill>
            <a:srgbClr val="FFF9F1"/>
          </a:solidFill>
          <a:ln w="9525">
            <a:solidFill>
              <a:srgbClr val="DADAD2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571232" y="3438144"/>
            <a:ext cx="2871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400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Kelas siswa ter-update &amp; tercatat riwayat</a:t>
            </a:r>
            <a:endParaRPr lang="en-US" sz="1400" dirty="0"/>
          </a:p>
        </p:txBody>
      </p:sp>
      <p:sp>
        <p:nvSpPr>
          <p:cNvPr id="51" name="Shape 48"/>
          <p:cNvSpPr/>
          <p:nvPr/>
        </p:nvSpPr>
        <p:spPr>
          <a:xfrm>
            <a:off x="10515600" y="3438144"/>
            <a:ext cx="1188720" cy="621792"/>
          </a:xfrm>
          <a:prstGeom prst="rect">
            <a:avLst/>
          </a:prstGeom>
          <a:solidFill>
            <a:srgbClr val="FFF9F1"/>
          </a:solidFill>
          <a:ln w="9525">
            <a:solidFill>
              <a:srgbClr val="DADAD2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0588752" y="3438144"/>
            <a:ext cx="10424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Sesuai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4434840" y="4059936"/>
            <a:ext cx="30632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AD2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507992" y="4059936"/>
            <a:ext cx="2916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400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bukti prestasi</a:t>
            </a:r>
            <a:endParaRPr lang="en-US" sz="1400" dirty="0"/>
          </a:p>
        </p:txBody>
      </p:sp>
      <p:sp>
        <p:nvSpPr>
          <p:cNvPr id="55" name="Shape 52"/>
          <p:cNvSpPr/>
          <p:nvPr/>
        </p:nvSpPr>
        <p:spPr>
          <a:xfrm>
            <a:off x="7498080" y="4059936"/>
            <a:ext cx="30175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AD2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571232" y="4059936"/>
            <a:ext cx="2871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400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Prestasi tercatat &amp; file tersimpan</a:t>
            </a:r>
            <a:endParaRPr lang="en-US" sz="1400" dirty="0"/>
          </a:p>
        </p:txBody>
      </p:sp>
      <p:sp>
        <p:nvSpPr>
          <p:cNvPr id="57" name="Shape 54"/>
          <p:cNvSpPr/>
          <p:nvPr/>
        </p:nvSpPr>
        <p:spPr>
          <a:xfrm>
            <a:off x="10515600" y="4059936"/>
            <a:ext cx="11887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AD2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10588752" y="4059936"/>
            <a:ext cx="10424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Sesuai</a:t>
            </a:r>
            <a:endParaRPr lang="en-US" sz="1400" dirty="0"/>
          </a:p>
        </p:txBody>
      </p:sp>
      <p:sp>
        <p:nvSpPr>
          <p:cNvPr id="59" name="Shape 56"/>
          <p:cNvSpPr/>
          <p:nvPr/>
        </p:nvSpPr>
        <p:spPr>
          <a:xfrm>
            <a:off x="4434840" y="4681728"/>
            <a:ext cx="3063240" cy="621792"/>
          </a:xfrm>
          <a:prstGeom prst="rect">
            <a:avLst/>
          </a:prstGeom>
          <a:solidFill>
            <a:srgbClr val="FFF9F1"/>
          </a:solidFill>
          <a:ln w="9525">
            <a:solidFill>
              <a:srgbClr val="DADAD2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4507992" y="4681728"/>
            <a:ext cx="2916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400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Cetak Rapor &amp; Rekap PDF</a:t>
            </a:r>
            <a:endParaRPr lang="en-US" sz="1400" dirty="0"/>
          </a:p>
        </p:txBody>
      </p:sp>
      <p:sp>
        <p:nvSpPr>
          <p:cNvPr id="61" name="Shape 58"/>
          <p:cNvSpPr/>
          <p:nvPr/>
        </p:nvSpPr>
        <p:spPr>
          <a:xfrm>
            <a:off x="7498080" y="4681728"/>
            <a:ext cx="3017520" cy="621792"/>
          </a:xfrm>
          <a:prstGeom prst="rect">
            <a:avLst/>
          </a:prstGeom>
          <a:solidFill>
            <a:srgbClr val="FFF9F1"/>
          </a:solidFill>
          <a:ln w="9525">
            <a:solidFill>
              <a:srgbClr val="DADAD2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7571232" y="4681728"/>
            <a:ext cx="2871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400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Dokumen PDF ter-generate &amp; terunduh</a:t>
            </a:r>
            <a:endParaRPr lang="en-US" sz="1400" dirty="0"/>
          </a:p>
        </p:txBody>
      </p:sp>
      <p:sp>
        <p:nvSpPr>
          <p:cNvPr id="63" name="Shape 60"/>
          <p:cNvSpPr/>
          <p:nvPr/>
        </p:nvSpPr>
        <p:spPr>
          <a:xfrm>
            <a:off x="10515600" y="4681728"/>
            <a:ext cx="1188720" cy="621792"/>
          </a:xfrm>
          <a:prstGeom prst="rect">
            <a:avLst/>
          </a:prstGeom>
          <a:solidFill>
            <a:srgbClr val="FFF9F1"/>
          </a:solidFill>
          <a:ln w="9525">
            <a:solidFill>
              <a:srgbClr val="DADAD2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10588752" y="4681728"/>
            <a:ext cx="10424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Sesuai</a:t>
            </a:r>
            <a:endParaRPr lang="en-US" sz="1400" dirty="0"/>
          </a:p>
        </p:txBody>
      </p:sp>
      <p:sp>
        <p:nvSpPr>
          <p:cNvPr id="65" name="Text 62"/>
          <p:cNvSpPr/>
          <p:nvPr/>
        </p:nvSpPr>
        <p:spPr>
          <a:xfrm>
            <a:off x="4434840" y="5440680"/>
            <a:ext cx="7269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i="1" dirty="0">
                <a:solidFill>
                  <a:srgbClr val="5C4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Seluruh 50 skenario mencakup jalur utama &amp; jalur negatif (validasi input, hak akses) dan dinyatakan berjalan sesuai hasil yang diharapkan (Sesuai).</a:t>
            </a:r>
            <a:endParaRPr lang="en-US" sz="1400" dirty="0"/>
          </a:p>
        </p:txBody>
      </p:sp>
      <p:sp>
        <p:nvSpPr>
          <p:cNvPr id="66" name="Text 63"/>
          <p:cNvSpPr/>
          <p:nvPr/>
        </p:nvSpPr>
        <p:spPr>
          <a:xfrm>
            <a:off x="1147572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TEKNOLOGI INFORMASI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 &amp; Saran Pengembangan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349240" cy="4937760"/>
          </a:xfrm>
          <a:prstGeom prst="rect">
            <a:avLst/>
          </a:prstGeom>
          <a:solidFill>
            <a:srgbClr val="77654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Sistem informasi manajemen nilai &amp; prestasi berbasis web (SIPRESMA 28) berhasil mengintegrasikan data ke satu basis data terpusat.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715768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Visualisasi grafik nilai &amp; rekap prestasi mempermudah monitoring oleh guru, wali kelas, dan kepala sekolah.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419856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Detektor KKM otomatis membantu identifikasi siswa yang perlu remedial secara cepat.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4123944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Hak akses 4 aktor (RBAC) berjalan sesuai peran masing-masing.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4828032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Kalkulasi nilai, ranking, dan cetak rapor PDF berjalan otomatis &amp; akurat.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553212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Seluruh 50 skenario pengujian Black Box Testing dinyatakan sesuai.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89320" y="1371600"/>
            <a:ext cx="5349240" cy="4937760"/>
          </a:xfrm>
          <a:prstGeom prst="rect">
            <a:avLst/>
          </a:prstGeom>
          <a:solidFill>
            <a:srgbClr val="4F3816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600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CDC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SARAN PENGEMBANGAN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09360" y="20574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Integrasi otomatis dengan basis data Dapodik Kemendikbudristek.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29260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Notifikasi otomatis ke orang tua/wali murid via WhatsApp API / SMS Gateway.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37947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Pengembangan aplikasi mobile (Android &amp; iOS) untuk orang tua.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46634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FFF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Peningkatan keamanan data: penetration testing &amp; enkripsi data sensitif.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7572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F3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4F3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023360"/>
            <a:ext cx="4206240" cy="4206240"/>
          </a:xfrm>
          <a:prstGeom prst="ellipse">
            <a:avLst/>
          </a:prstGeom>
          <a:solidFill>
            <a:srgbClr val="3A2810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463040"/>
            <a:ext cx="3291840" cy="3291840"/>
          </a:xfrm>
          <a:prstGeom prst="ellipse">
            <a:avLst/>
          </a:prstGeom>
          <a:solidFill>
            <a:srgbClr val="77654B">
              <a:alpha val="30000"/>
            </a:srgbClr>
          </a:solidFill>
          <a:ln/>
        </p:spPr>
      </p:sp>
      <p:pic>
        <p:nvPicPr>
          <p:cNvPr id="4" name="Image 0" descr="icon_handshelp_gold.png"/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5394960" y="914400"/>
            <a:ext cx="1417320" cy="1417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6517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 Kasih Atas Perhatiannya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394960" y="3611880"/>
            <a:ext cx="1371600" cy="36576"/>
          </a:xfrm>
          <a:prstGeom prst="rect">
            <a:avLst/>
          </a:prstGeom>
          <a:solidFill>
            <a:srgbClr val="CDC0AE"/>
          </a:solidFill>
          <a:ln/>
        </p:spPr>
      </p:sp>
      <p:sp>
        <p:nvSpPr>
          <p:cNvPr id="7" name="Text 4"/>
          <p:cNvSpPr/>
          <p:nvPr/>
        </p:nvSpPr>
        <p:spPr>
          <a:xfrm>
            <a:off x="1645920" y="388620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dirty="0">
                <a:solidFill>
                  <a:srgbClr val="DCD1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INFORMASI MANAJEMEN NILAI DAN MONITORING PRESTASI SISWA BERBASIS WEB PADA SD NEGERI 28 KINALI (SIPRESMA 28)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645920" y="484632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Rahma Indriza Syafitri  •  2301091022  •  D3 Manajemen Informatika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47572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1651</Words>
  <Application>Microsoft Office PowerPoint</Application>
  <PresentationFormat>Custom</PresentationFormat>
  <Paragraphs>291</Paragraphs>
  <Slides>19</Slides>
  <Notes>19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T14</cp:lastModifiedBy>
  <cp:revision>9</cp:revision>
  <dcterms:created xsi:type="dcterms:W3CDTF">2026-08-15T12:37:17Z</dcterms:created>
  <dcterms:modified xsi:type="dcterms:W3CDTF">2026-08-15T14:12:20Z</dcterms:modified>
</cp:coreProperties>
</file>